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2D3F4-137A-49AB-958C-4E82BF03C944}" v="752" dt="2026-10-14T14:04:29.655"/>
    <p1510:client id="{ACD04C7C-1A20-4FA6-B90C-A3C8A4A2C78E}" v="19" dt="2026-10-14T14:23:11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0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50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1041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6276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0507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4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55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654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796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 lang="en-US" dirty="0"/>
            </a:lvl1pPr>
          </a:lstStyle>
          <a:p>
            <a:endParaRPr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56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422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812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4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36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3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78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7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178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2612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46077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0764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632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03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3368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45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015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167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731520"/>
            <a:ext cx="1280160" cy="1280160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0"/>
            <a:ext cx="731520" cy="731520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286000"/>
            <a:ext cx="411480" cy="411480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64240" y="2834640"/>
            <a:ext cx="320040" cy="320040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594360" cy="594360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0464265" y="1866232"/>
            <a:ext cx="548640" cy="640080"/>
          </a:xfrm>
          <a:prstGeom prst="line">
            <a:avLst/>
          </a:prstGeom>
          <a:ln w="19050">
            <a:solidFill>
              <a:srgbClr val="3DB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0" y="2011680"/>
            <a:ext cx="457200" cy="457200"/>
          </a:xfrm>
          <a:prstGeom prst="line">
            <a:avLst/>
          </a:prstGeom>
          <a:ln w="19050">
            <a:solidFill>
              <a:srgbClr val="3DB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0" y="2560320"/>
            <a:ext cx="320040" cy="411480"/>
          </a:xfrm>
          <a:prstGeom prst="line">
            <a:avLst/>
          </a:prstGeom>
          <a:ln w="19050">
            <a:solidFill>
              <a:srgbClr val="3DB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24160" y="3474720"/>
            <a:ext cx="0" cy="320040"/>
          </a:xfrm>
          <a:prstGeom prst="line">
            <a:avLst/>
          </a:prstGeom>
          <a:ln w="19050">
            <a:solidFill>
              <a:srgbClr val="3DB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834640"/>
            <a:ext cx="457200" cy="914399"/>
          </a:xfrm>
          <a:prstGeom prst="line">
            <a:avLst/>
          </a:prstGeom>
          <a:ln w="19050">
            <a:solidFill>
              <a:srgbClr val="3DB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8966" y="1604479"/>
            <a:ext cx="8695355" cy="1552343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chemeClr val="bg1"/>
                </a:solidFill>
                <a:latin typeface="Times New Roman"/>
                <a:cs typeface="Times New Roman"/>
              </a:rPr>
              <a:t>Steganography vs</a:t>
            </a:r>
            <a:r>
              <a:rPr lang="en-GB" sz="3600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600" b="1">
                <a:solidFill>
                  <a:schemeClr val="bg1"/>
                </a:solidFill>
                <a:latin typeface="Times New Roman"/>
                <a:cs typeface="Times New Roman"/>
              </a:rPr>
              <a:t>Cryptography Hidden Security in the Digital World</a:t>
            </a:r>
            <a:endParaRPr lang="en-US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Aft>
                <a:spcPts val="400"/>
              </a:spcAft>
            </a:pPr>
            <a:r>
              <a:rPr sz="3600" b="1" dirty="0">
                <a:solidFill>
                  <a:schemeClr val="bg1"/>
                </a:solidFill>
                <a:latin typeface="Times New Roman"/>
                <a:cs typeface="Times New Roman"/>
              </a:rPr>
              <a:t>
</a:t>
            </a:r>
            <a:r>
              <a:rPr lang="en-GB" sz="3600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endParaRPr lang="en-GB" sz="2400" b="1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2986" y="4474910"/>
            <a:ext cx="7894319" cy="13716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b="1" dirty="0">
                <a:solidFill>
                  <a:schemeClr val="bg2"/>
                </a:solidFill>
                <a:latin typeface="Times New Roman"/>
                <a:cs typeface="Times New Roman"/>
              </a:rPr>
              <a:t>Presented by: </a:t>
            </a:r>
            <a:r>
              <a:rPr lang="en-GB" b="1" dirty="0">
                <a:solidFill>
                  <a:schemeClr val="bg2"/>
                </a:solidFill>
                <a:latin typeface="Times New Roman"/>
                <a:cs typeface="Times New Roman"/>
              </a:rPr>
              <a:t>MUKESH.M</a:t>
            </a:r>
            <a:r>
              <a:rPr b="1" dirty="0">
                <a:solidFill>
                  <a:schemeClr val="bg2"/>
                </a:solidFill>
                <a:latin typeface="Times New Roman"/>
                <a:cs typeface="Times New Roman"/>
              </a:rPr>
              <a:t>
Department: </a:t>
            </a:r>
            <a:r>
              <a:rPr lang="en-GB" b="1" dirty="0">
                <a:solidFill>
                  <a:schemeClr val="bg2"/>
                </a:solidFill>
                <a:latin typeface="Times New Roman"/>
                <a:cs typeface="Times New Roman"/>
              </a:rPr>
              <a:t>B.TECH(INFORMATION TECHNOLOGY)</a:t>
            </a:r>
            <a:r>
              <a:rPr b="1" dirty="0">
                <a:solidFill>
                  <a:schemeClr val="bg2"/>
                </a:solidFill>
                <a:latin typeface="Times New Roman"/>
                <a:cs typeface="Times New Roman"/>
              </a:rPr>
              <a:t>
</a:t>
            </a:r>
            <a:r>
              <a:rPr lang="en-GB" b="1" dirty="0">
                <a:solidFill>
                  <a:schemeClr val="bg2"/>
                </a:solidFill>
                <a:latin typeface="Times New Roman"/>
                <a:cs typeface="Times New Roman"/>
              </a:rPr>
              <a:t>Cou</a:t>
            </a:r>
            <a:r>
              <a:rPr lang="en-GB" b="1">
                <a:solidFill>
                  <a:schemeClr val="bg2"/>
                </a:solidFill>
                <a:latin typeface="Times New Roman"/>
                <a:cs typeface="Times New Roman"/>
              </a:rPr>
              <a:t>rse name &amp; code : </a:t>
            </a:r>
            <a:r>
              <a:rPr b="1" dirty="0">
                <a:solidFill>
                  <a:schemeClr val="bg2"/>
                </a:solidFill>
                <a:latin typeface="Times New Roman"/>
                <a:cs typeface="Times New Roman"/>
              </a:rPr>
              <a:t>Cryptography  </a:t>
            </a:r>
            <a:r>
              <a:rPr lang="en-GB" b="1">
                <a:solidFill>
                  <a:schemeClr val="bg2"/>
                </a:solidFill>
                <a:latin typeface="Times New Roman"/>
                <a:cs typeface="Times New Roman"/>
              </a:rPr>
              <a:t>Network &amp; Security CSA5111</a:t>
            </a:r>
            <a:endParaRPr lang="en-US" b="1">
              <a:solidFill>
                <a:schemeClr val="bg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133CB-CEA5-664B-D327-881B74D6C23D}"/>
              </a:ext>
            </a:extLst>
          </p:cNvPr>
          <p:cNvSpPr txBox="1"/>
          <p:nvPr/>
        </p:nvSpPr>
        <p:spPr>
          <a:xfrm>
            <a:off x="8173065" y="4744065"/>
            <a:ext cx="303571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GB" sz="2000" b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Guide</a:t>
            </a:r>
            <a:r>
              <a:rPr lang="en-GB" sz="2000" b="1" i="0" u="none" strike="noStrike" baseline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by:</a:t>
            </a:r>
            <a:r>
              <a:rPr lang="en-GB" sz="2000" b="1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en-GB" sz="2000" b="1" i="0" u="none" strike="noStrike" baseline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                 </a:t>
            </a:r>
            <a:r>
              <a:rPr lang="en-GB" sz="2000" b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en-GB" sz="2000" b="1" i="0" u="none" strike="noStrike" baseline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Dr.</a:t>
            </a:r>
            <a:r>
              <a:rPr lang="en-GB" sz="2000" b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GB" sz="2000" b="1" i="0" u="none" strike="noStrike" baseline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Sivasankar </a:t>
            </a:r>
            <a:r>
              <a:rPr lang="en-US" sz="2000" b="1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endParaRPr lang="en-GB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231" y="565846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Introduction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3810" y="1504827"/>
            <a:ext cx="5303520" cy="54864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8DCE1"/>
                </a:solidFill>
                <a:latin typeface="Aptos"/>
              </a:rPr>
              <a:t>Why do we need digital security?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197" y="2304680"/>
            <a:ext cx="5486400" cy="347472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Digital communication carries personal, academic, and business information.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14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Cybersecurity techniques reduce unauthorized access and data exposure.</a:t>
            </a:r>
          </a:p>
          <a:p>
            <a:pPr>
              <a:spcAft>
                <a:spcPts val="14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Cryptography protects the meaning of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Steganography aims to conceal the presence of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08760"/>
            <a:ext cx="2148840" cy="329184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2023774"/>
            <a:ext cx="1955144" cy="482369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CRYPTOGRAPHY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769354"/>
            <a:ext cx="1783080" cy="1067194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5F8FF"/>
                </a:solidFill>
                <a:latin typeface="Times New Roman"/>
                <a:cs typeface="Times New Roman"/>
              </a:rPr>
              <a:t>“What does this message say?”</a:t>
            </a:r>
            <a:endParaRPr lang="en-US" sz="2000" b="0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06840" y="1508760"/>
            <a:ext cx="2331720" cy="329184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95718" y="2023773"/>
            <a:ext cx="196596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 fontScale="85000" lnSpcReduction="10000"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Times New Roman"/>
                <a:cs typeface="Times New Roman"/>
              </a:rPr>
              <a:t>STEGANOGRAPHY</a:t>
            </a:r>
            <a:endParaRPr lang="en-US" sz="1800" b="1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80073" y="2572709"/>
            <a:ext cx="1965960" cy="254203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“Is there a secret message here?”</a:t>
            </a:r>
            <a:endParaRPr lang="en-US" sz="2400" b="0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166" y="823943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What Is Cryptography?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71397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8DCE1"/>
                </a:solidFill>
                <a:latin typeface="Aptos"/>
              </a:rPr>
              <a:t>Protects the meaning of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079" y="2271252"/>
            <a:ext cx="4846320" cy="338328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Plaintext: the original readable message.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Encryption: transforms plaintext using an algorithm and key.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Ciphertext: the transformed, usually unreadable message.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Decryption: recovers plaintext using the appropriate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5303520" cy="14173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472184"/>
            <a:ext cx="493775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EXAMPLE: CAESAR CIPHER</a:t>
            </a:r>
            <a:endParaRPr lang="en-US" sz="2400" b="1">
              <a:solidFill>
                <a:srgbClr val="FFC65C"/>
              </a:solidFill>
              <a:latin typeface="Times New Roman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2057400"/>
            <a:ext cx="1645920" cy="457200"/>
          </a:xfrm>
          <a:prstGeom prst="roundRect">
            <a:avLst/>
          </a:prstGeom>
          <a:solidFill>
            <a:srgbClr val="17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1536192" cy="329184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5F8FF"/>
                </a:solidFill>
                <a:latin typeface="Times New Roman"/>
                <a:cs typeface="Times New Roman"/>
              </a:rPr>
              <a:t>HELLO</a:t>
            </a:r>
            <a:endParaRPr lang="en-US" sz="24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2286000"/>
            <a:ext cx="594360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2057400"/>
            <a:ext cx="1828800" cy="457200"/>
          </a:xfrm>
          <a:prstGeom prst="roundRect">
            <a:avLst/>
          </a:prstGeom>
          <a:solidFill>
            <a:srgbClr val="17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544" y="2103120"/>
            <a:ext cx="1719072" cy="329184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DCE1"/>
                </a:solidFill>
                <a:latin typeface="Times New Roman"/>
                <a:cs typeface="Times New Roman"/>
              </a:rPr>
              <a:t>KHOOR</a:t>
            </a:r>
            <a:endParaRPr lang="en-US" sz="24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0C1DA"/>
                </a:solidFill>
                <a:latin typeface="Aptos"/>
              </a:rPr>
              <a:t>Shift each letter forward by 3 positions.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5342" y="4002219"/>
            <a:ext cx="5364970" cy="2418243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4123944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COMMON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2223" y="4433365"/>
            <a:ext cx="4983480" cy="77723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HTTPS / TLS and secure browsing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Secure messaging and online banking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Digital signatures and data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What Is Steganography?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4888" y="1475072"/>
            <a:ext cx="5303520" cy="4572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DBEB7"/>
                </a:solidFill>
                <a:latin typeface="Aptos"/>
              </a:rPr>
              <a:t>Hides the existence of a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135" y="2115151"/>
            <a:ext cx="5029200" cy="329184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A secret message is embedded inside an ordinary carrier file.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Carriers can include images, audio, video, or text.</a:t>
            </a:r>
            <a:endParaRPr sz="2400" dirty="0">
              <a:latin typeface="Times New Roman"/>
              <a:cs typeface="Times New Roman"/>
            </a:endParaRP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 dirty="0">
                <a:latin typeface="Times New Roman"/>
                <a:cs typeface="Times New Roman"/>
              </a:rPr>
              <a:t>•  The result is called a </a:t>
            </a:r>
            <a:r>
              <a:rPr sz="2400" dirty="0" err="1">
                <a:latin typeface="Times New Roman"/>
                <a:cs typeface="Times New Roman"/>
              </a:rPr>
              <a:t>stego</a:t>
            </a:r>
            <a:r>
              <a:rPr sz="2400" dirty="0">
                <a:latin typeface="Times New Roman"/>
                <a:cs typeface="Times New Roman"/>
              </a:rPr>
              <a:t>-file (for example, a </a:t>
            </a:r>
            <a:r>
              <a:rPr sz="2400" dirty="0" err="1">
                <a:latin typeface="Times New Roman"/>
                <a:cs typeface="Times New Roman"/>
              </a:rPr>
              <a:t>stego</a:t>
            </a:r>
            <a:r>
              <a:rPr sz="2400" dirty="0">
                <a:latin typeface="Times New Roman"/>
                <a:cs typeface="Times New Roman"/>
              </a:rPr>
              <a:t>-image).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The receiver uses an extraction method, sometimes with a key.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995160" y="2267712"/>
            <a:ext cx="201168" cy="201168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95160" y="2615184"/>
            <a:ext cx="146304" cy="146304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95160" y="2962656"/>
            <a:ext cx="201168" cy="201168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95160" y="3310128"/>
            <a:ext cx="146304" cy="146304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70648" y="2267712"/>
            <a:ext cx="146304" cy="146304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70648" y="2615184"/>
            <a:ext cx="201168" cy="201168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70648" y="2962656"/>
            <a:ext cx="146304" cy="146304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70648" y="3310128"/>
            <a:ext cx="201168" cy="201168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46136" y="2267712"/>
            <a:ext cx="201168" cy="201168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46136" y="2615184"/>
            <a:ext cx="146304" cy="146304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46136" y="2962656"/>
            <a:ext cx="201168" cy="201168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46136" y="3310128"/>
            <a:ext cx="146304" cy="146304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21624" y="2267712"/>
            <a:ext cx="146304" cy="146304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21624" y="2615184"/>
            <a:ext cx="201168" cy="201168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21624" y="2962656"/>
            <a:ext cx="146304" cy="146304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21624" y="3310128"/>
            <a:ext cx="201168" cy="201168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97112" y="2267712"/>
            <a:ext cx="201168" cy="201168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97112" y="2615184"/>
            <a:ext cx="146304" cy="146304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97112" y="2962656"/>
            <a:ext cx="201168" cy="201168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97112" y="3310128"/>
            <a:ext cx="146304" cy="146304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372600" y="2267712"/>
            <a:ext cx="146304" cy="146304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72600" y="2615184"/>
            <a:ext cx="201168" cy="201168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72600" y="2962656"/>
            <a:ext cx="146304" cy="146304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72600" y="3310128"/>
            <a:ext cx="201168" cy="201168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848088" y="2267712"/>
            <a:ext cx="201168" cy="201168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848088" y="2615184"/>
            <a:ext cx="146304" cy="146304"/>
          </a:xfrm>
          <a:prstGeom prst="ellipse">
            <a:avLst/>
          </a:prstGeom>
          <a:solidFill>
            <a:srgbClr val="3DBE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848088" y="2962656"/>
            <a:ext cx="201168" cy="201168"/>
          </a:xfrm>
          <a:prstGeom prst="ellipse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48088" y="3310128"/>
            <a:ext cx="146304" cy="146304"/>
          </a:xfrm>
          <a:prstGeom prst="ellipse">
            <a:avLst/>
          </a:prstGeom>
          <a:solidFill>
            <a:srgbClr val="28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89204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B0C1DA"/>
                </a:solidFill>
                <a:latin typeface="Aptos"/>
              </a:rPr>
              <a:t>Example: secret text embedded in image pixels</a:t>
            </a:r>
          </a:p>
        </p:txBody>
      </p:sp>
      <p:pic>
        <p:nvPicPr>
          <p:cNvPr id="4" name="Picture 3" descr="Hide Text in Image - Free Online Steganography Tool">
            <a:extLst>
              <a:ext uri="{FF2B5EF4-FFF2-40B4-BE49-F238E27FC236}">
                <a16:creationId xmlns:a16="http://schemas.microsoft.com/office/drawing/2014/main" id="{1C245D84-D7C4-3949-31D1-5C4F0E64F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505" y="1712496"/>
            <a:ext cx="5871410" cy="4128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8781" y="948356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  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How Cryptography Works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03704"/>
            <a:ext cx="141731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PLAINTEXT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407" y="2644007"/>
            <a:ext cx="1783882" cy="1223208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Readable message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450591" y="2971800"/>
            <a:ext cx="384049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057400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27248" y="2203704"/>
            <a:ext cx="141731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ENCRYPT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0776" y="2630639"/>
            <a:ext cx="1770514" cy="1249944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Algorithm + key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736592" y="2971800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12080" y="2057400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2203704"/>
            <a:ext cx="141731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CIPHERTEXT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3408" y="2617270"/>
            <a:ext cx="1583356" cy="1263314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Protected data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022592" y="2971800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79" y="2057400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9248" y="2203704"/>
            <a:ext cx="141731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DECRYPT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697480"/>
            <a:ext cx="1463040" cy="114299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•Appropriate key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308592" y="2971800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84080" y="2057400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85248" y="2203704"/>
            <a:ext cx="141731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PLAINTEXT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2697480"/>
            <a:ext cx="1463040" cy="114299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Original message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7979" y="5186145"/>
            <a:ext cx="1005840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5F8FF"/>
                </a:solidFill>
                <a:latin typeface="Times New Roman"/>
                <a:cs typeface="Times New Roman"/>
              </a:rPr>
              <a:t>Security depends on the algorithm, key strength, key secrecy, and correct implementation.</a:t>
            </a:r>
            <a:endParaRPr lang="en-US" sz="24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7728" y="934987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How Steganography Works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099" y="2177983"/>
            <a:ext cx="10789920" cy="4114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B0C1DA"/>
                </a:solidFill>
                <a:latin typeface="Times New Roman"/>
                <a:cs typeface="Times New Roman"/>
              </a:rPr>
              <a:t>A message is embedded in a carrier file and later extracted</a:t>
            </a:r>
            <a:endParaRPr lang="en-US" sz="2400" b="0">
              <a:solidFill>
                <a:srgbClr val="B0C1DA"/>
              </a:solidFill>
              <a:latin typeface="Times New Roman"/>
              <a:cs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5274" y="3012603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1562" y="3131740"/>
            <a:ext cx="14173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3DBEB7"/>
                </a:solidFill>
                <a:latin typeface="Times New Roman"/>
                <a:cs typeface="Times New Roman"/>
              </a:rPr>
              <a:t>SECRET
</a:t>
            </a:r>
            <a:r>
              <a:rPr b="1">
                <a:solidFill>
                  <a:srgbClr val="3DBEB7"/>
                </a:solidFill>
                <a:latin typeface="Times New Roman"/>
                <a:cs typeface="Times New Roman"/>
              </a:rPr>
              <a:t>MESSAGE</a:t>
            </a:r>
            <a:endParaRPr lang="en-US" b="1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60" y="3826042"/>
            <a:ext cx="1757146" cy="1169736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Text or data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1204" y="4013037"/>
            <a:ext cx="384049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0661" y="3074055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3985" y="3305529"/>
            <a:ext cx="14173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Times New Roman"/>
                <a:cs typeface="Times New Roman"/>
              </a:rPr>
              <a:t>EMBED</a:t>
            </a:r>
            <a:endParaRPr lang="en-US" sz="18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30778" y="3745832"/>
            <a:ext cx="1463040" cy="114299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 dirty="0">
                <a:latin typeface="Times New Roman"/>
                <a:cs typeface="Times New Roman"/>
              </a:rPr>
              <a:t>•  </a:t>
            </a:r>
            <a:r>
              <a:rPr sz="2400" dirty="0" err="1">
                <a:latin typeface="Times New Roman"/>
                <a:cs typeface="Times New Roman"/>
              </a:rPr>
              <a:t>Stego</a:t>
            </a:r>
            <a:r>
              <a:rPr sz="2400" dirty="0">
                <a:latin typeface="Times New Roman"/>
                <a:cs typeface="Times New Roman"/>
              </a:rPr>
              <a:t> algorithm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761173" y="4013036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50629" y="3196959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86511" y="3359003"/>
            <a:ext cx="14173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 fontScale="92500"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Times New Roman"/>
                <a:cs typeface="Times New Roman"/>
              </a:rPr>
              <a:t>STEGO-FILE</a:t>
            </a:r>
            <a:endParaRPr lang="en-US" sz="18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62704" y="3935361"/>
            <a:ext cx="1463040" cy="114299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Image / audio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936559" y="4074488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50595" y="3135507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52195" y="3359003"/>
            <a:ext cx="14173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Times New Roman"/>
                <a:cs typeface="Times New Roman"/>
              </a:rPr>
              <a:t>EXTRACT</a:t>
            </a:r>
            <a:endParaRPr lang="en-US" sz="18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02250" y="3852780"/>
            <a:ext cx="1463040" cy="1142999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Method or key</a:t>
            </a:r>
            <a:endParaRPr lang="en-US" sz="2400">
              <a:latin typeface="Times New Roman"/>
              <a:cs typeface="Times New Roman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136528" y="4074488"/>
            <a:ext cx="384048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25984" y="3319862"/>
            <a:ext cx="1783080" cy="187451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4511" y="3425845"/>
            <a:ext cx="14173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3DBEB7"/>
                </a:solidFill>
                <a:latin typeface="Times New Roman"/>
                <a:cs typeface="Times New Roman"/>
              </a:rPr>
              <a:t>SECRET
</a:t>
            </a:r>
            <a:r>
              <a:rPr b="1">
                <a:solidFill>
                  <a:srgbClr val="3DBEB7"/>
                </a:solidFill>
                <a:latin typeface="Times New Roman"/>
                <a:cs typeface="Times New Roman"/>
              </a:rPr>
              <a:t>MESSAGE</a:t>
            </a:r>
            <a:endParaRPr lang="en-US" b="1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47620" y="4133517"/>
            <a:ext cx="1917565" cy="1183104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Recovered data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Key Differences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194560" cy="502920"/>
          </a:xfrm>
          <a:prstGeom prst="roundRect">
            <a:avLst/>
          </a:prstGeom>
          <a:solidFill>
            <a:srgbClr val="17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417320"/>
            <a:ext cx="2048255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25880"/>
            <a:ext cx="4251960" cy="502920"/>
          </a:xfrm>
          <a:prstGeom prst="roundRect">
            <a:avLst/>
          </a:prstGeom>
          <a:solidFill>
            <a:srgbClr val="17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3512" y="1417320"/>
            <a:ext cx="4105656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DCE1"/>
                </a:solidFill>
                <a:latin typeface="Times New Roman"/>
                <a:cs typeface="Times New Roman"/>
              </a:rPr>
              <a:t>CRYPTOGRAPHY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25880"/>
            <a:ext cx="4343400" cy="502920"/>
          </a:xfrm>
          <a:prstGeom prst="roundRect">
            <a:avLst/>
          </a:prstGeom>
          <a:solidFill>
            <a:srgbClr val="17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5472" y="1417320"/>
            <a:ext cx="4197096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8DCE1"/>
                </a:solidFill>
                <a:latin typeface="Times New Roman"/>
                <a:cs typeface="Times New Roman"/>
              </a:rPr>
              <a:t>STEGANOGRAPHY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21945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039112"/>
            <a:ext cx="2011679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Main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38528"/>
            <a:ext cx="42519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71800" y="2039112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Hide the meaning of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938528"/>
            <a:ext cx="434340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23759" y="2039112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Hide the presence of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24328"/>
            <a:ext cx="219456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2724912"/>
            <a:ext cx="2011679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Appearance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624328"/>
            <a:ext cx="425196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71800" y="2724912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May look scrambled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624328"/>
            <a:ext cx="434340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59" y="2724912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Carrier appears ordinary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10128"/>
            <a:ext cx="21945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2011679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Technique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3310128"/>
            <a:ext cx="42519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71800" y="3410712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Encryption / decryption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3310128"/>
            <a:ext cx="434340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23759" y="3410712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Embedding / extraction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95928"/>
            <a:ext cx="219456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4096512"/>
            <a:ext cx="2011679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Security focus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3995928"/>
            <a:ext cx="425196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71800" y="4096512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Content confidentiality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995928"/>
            <a:ext cx="4343400" cy="594360"/>
          </a:xfrm>
          <a:prstGeom prst="roundRect">
            <a:avLst/>
          </a:prstGeom>
          <a:solidFill>
            <a:srgbClr val="0D1A32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23759" y="4096512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Concealment of communication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681728"/>
            <a:ext cx="21945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4782312"/>
            <a:ext cx="2011679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C65C"/>
                </a:solidFill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4681728"/>
            <a:ext cx="425196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71800" y="4782312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Encrypted email 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4681728"/>
            <a:ext cx="4343400" cy="5943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23759" y="4782312"/>
            <a:ext cx="4160520" cy="384048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Secret text inside an 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3DBEB7"/>
                </a:solidFill>
                <a:latin typeface="Times New Roman"/>
                <a:cs typeface="Times New Roman"/>
              </a:rPr>
              <a:t>Takeaway: cryptography protects content; steganography conceals communication.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9231" y="701040"/>
            <a:ext cx="4822231" cy="453759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Real-World Applications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34340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2462" y="1711108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822" y="2315497"/>
            <a:ext cx="4937760" cy="361188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Online banking and digital payments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HTTPS / TLS secure web connections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End-to-end encrypted messaging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Digital signatures and authentication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Protecting stored files and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34340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711108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STEGANOGRAPHY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383" y="2155723"/>
            <a:ext cx="4937760" cy="361188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Digital watermarking and ownership marks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Embedding metadata in media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Covert communication in authorized research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Media tracking and copyright workflows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Demonstrations in digital forensics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231" y="467524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Advantages and Limitations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03520" cy="44805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6742" y="1702259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76" y="2097712"/>
            <a:ext cx="4983480" cy="374904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Strength: strong confidentiality when correctly implemented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Strength: supports secure transactions and communication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Limitation: ciphertext may attract attention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Limitation: stolen keys or poor implementation create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9701" y="1702259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STEGANOGRAPHY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9996" y="2097712"/>
            <a:ext cx="4983480" cy="374904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Strength: can conceal that a message exists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Strength: can be applied to common media files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Limitation: steganalysis may detect hidden data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Limitation: compression or edits can damage embedded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5812" y="676459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Combining Both Techniques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717204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B0C1DA"/>
                </a:solidFill>
                <a:latin typeface="Times New Roman"/>
                <a:cs typeface="Times New Roman"/>
              </a:rPr>
              <a:t>Encrypt first, then hide the ciphertext in a carrier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5057"/>
            <a:ext cx="1828800" cy="16459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4077" y="2653038"/>
            <a:ext cx="2311071" cy="703597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3DBEB7"/>
                </a:solidFill>
                <a:latin typeface="Times New Roman"/>
                <a:cs typeface="Times New Roman"/>
              </a:rPr>
              <a:t>ORIGINAL
</a:t>
            </a:r>
            <a:r>
              <a:rPr sz="2000" b="1">
                <a:solidFill>
                  <a:srgbClr val="3DBEB7"/>
                </a:solidFill>
                <a:latin typeface="Times New Roman"/>
                <a:cs typeface="Times New Roman"/>
              </a:rPr>
              <a:t>MESSAGE</a:t>
            </a:r>
            <a:endParaRPr lang="en-US" sz="2000" b="1" dirty="0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630" y="3306588"/>
            <a:ext cx="1693114" cy="1098754"/>
          </a:xfrm>
          <a:prstGeom prst="rect">
            <a:avLst/>
          </a:prstGeom>
          <a:noFill/>
        </p:spPr>
        <p:txBody>
          <a:bodyPr wrap="square" lIns="73152" tIns="73152" rIns="73152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Readable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9158" y="3452597"/>
            <a:ext cx="365760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2650" y="2727960"/>
            <a:ext cx="1828800" cy="16459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69239" y="2837393"/>
            <a:ext cx="1831749" cy="433209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8DCE1"/>
                </a:solidFill>
                <a:latin typeface="Times New Roman"/>
                <a:cs typeface="Times New Roman"/>
              </a:rPr>
              <a:t>ENCRYPT</a:t>
            </a:r>
            <a:endParaRPr lang="en-US" sz="20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97468" y="3257426"/>
            <a:ext cx="1508760" cy="914400"/>
          </a:xfrm>
          <a:prstGeom prst="rect">
            <a:avLst/>
          </a:prstGeom>
          <a:noFill/>
        </p:spPr>
        <p:txBody>
          <a:bodyPr wrap="square" lIns="73152" tIns="73152" rIns="73152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Key + algorithm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7448" y="3440307"/>
            <a:ext cx="365760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8650" y="2691089"/>
            <a:ext cx="1828800" cy="16459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56914" y="2837393"/>
            <a:ext cx="2163589" cy="51924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8DCE1"/>
                </a:solidFill>
                <a:latin typeface="Times New Roman"/>
                <a:cs typeface="Times New Roman"/>
              </a:rPr>
              <a:t>CIPHERTEXT</a:t>
            </a:r>
            <a:endParaRPr lang="en-US" sz="2000" b="1">
              <a:solidFill>
                <a:srgbClr val="28DCE1"/>
              </a:solidFill>
              <a:latin typeface="Times New Roman"/>
              <a:cs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9726" y="3318878"/>
            <a:ext cx="1865178" cy="1283109"/>
          </a:xfrm>
          <a:prstGeom prst="rect">
            <a:avLst/>
          </a:prstGeom>
          <a:noFill/>
        </p:spPr>
        <p:txBody>
          <a:bodyPr wrap="square" lIns="73152" tIns="73152" rIns="73152">
            <a:no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Unreadable 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8028" y="3440307"/>
            <a:ext cx="390341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2691089"/>
            <a:ext cx="1828800" cy="16459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41238" y="2775941"/>
            <a:ext cx="14630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DBEB7"/>
                </a:solidFill>
                <a:latin typeface="Times New Roman"/>
                <a:cs typeface="Times New Roman"/>
              </a:rPr>
              <a:t>EMBED</a:t>
            </a:r>
            <a:endParaRPr lang="en-US" sz="2000" b="1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04662" y="3257426"/>
            <a:ext cx="1508760" cy="914400"/>
          </a:xfrm>
          <a:prstGeom prst="rect">
            <a:avLst/>
          </a:prstGeom>
          <a:noFill/>
        </p:spPr>
        <p:txBody>
          <a:bodyPr wrap="square" lIns="73152" tIns="73152" rIns="73152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Carrier file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7158" y="3317404"/>
            <a:ext cx="365760" cy="0"/>
          </a:xfrm>
          <a:prstGeom prst="line">
            <a:avLst/>
          </a:prstGeom>
          <a:ln w="25400">
            <a:solidFill>
              <a:srgbClr val="2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0037" y="2691089"/>
            <a:ext cx="1828800" cy="164592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04335" y="2775941"/>
            <a:ext cx="2200458" cy="53153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DBEB7"/>
                </a:solidFill>
                <a:latin typeface="Times New Roman"/>
                <a:cs typeface="Times New Roman"/>
              </a:rPr>
              <a:t>STEGO-FILE</a:t>
            </a:r>
            <a:endParaRPr lang="en-US" sz="2000" b="1">
              <a:solidFill>
                <a:srgbClr val="3DBEB7"/>
              </a:solidFill>
              <a:latin typeface="Times New Roman"/>
              <a:cs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04629" y="3109942"/>
            <a:ext cx="1508760" cy="914400"/>
          </a:xfrm>
          <a:prstGeom prst="rect">
            <a:avLst/>
          </a:prstGeom>
          <a:noFill/>
        </p:spPr>
        <p:txBody>
          <a:bodyPr wrap="square" lIns="73152" tIns="73152" rIns="73152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Looks ordinary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44" y="5138338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5F8FF"/>
                </a:solidFill>
                <a:latin typeface="Times New Roman"/>
                <a:cs typeface="Times New Roman"/>
              </a:rPr>
              <a:t>Receiver workflow: extract ciphertext → decrypt with the key → recover the original message.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5812" y="688750"/>
            <a:ext cx="1088136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3200" b="1">
                <a:solidFill>
                  <a:srgbClr val="F5F8FF"/>
                </a:solidFill>
                <a:latin typeface="Times New Roman"/>
                <a:cs typeface="Times New Roman"/>
              </a:rPr>
              <a:t>                           </a:t>
            </a:r>
            <a:r>
              <a:rPr sz="3200" b="1">
                <a:solidFill>
                  <a:srgbClr val="F5F8FF"/>
                </a:solidFill>
                <a:latin typeface="Times New Roman"/>
                <a:cs typeface="Times New Roman"/>
              </a:rPr>
              <a:t>Future Scope and Challenges</a:t>
            </a:r>
            <a:endParaRPr lang="en-US" sz="3200" b="1">
              <a:solidFill>
                <a:srgbClr val="F5F8FF"/>
              </a:solidFill>
              <a:latin typeface="Times New Roman"/>
              <a:cs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6101" y="1654277"/>
            <a:ext cx="5257800" cy="434340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7043" y="1997227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8DCE1"/>
                </a:solidFill>
                <a:latin typeface="Aptos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209" y="2380390"/>
            <a:ext cx="4937760" cy="361188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AI-assisted steganography and steganalysis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Improved digital watermarking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Security for cloud and IoT devices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Post-quantum cryptography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More robust media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15729"/>
            <a:ext cx="5257800" cy="4343400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1153" y="1800581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DBEB7"/>
                </a:solidFill>
                <a:latin typeface="Aptos"/>
              </a:rP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83745"/>
            <a:ext cx="4937760" cy="3611880"/>
          </a:xfrm>
          <a:prstGeom prst="rect">
            <a:avLst/>
          </a:prstGeom>
          <a:noFill/>
        </p:spPr>
        <p:txBody>
          <a:bodyPr wrap="square" lIns="73152" tIns="73152" rIns="73152" bIns="45720" anchor="t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Detecting increasingly subtle hidden data</a:t>
            </a:r>
            <a:endParaRPr lang="en-US" sz="2400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Secure encryption-key management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Balancing capacity, quality, and robustness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Performance and storage constraints</a:t>
            </a:r>
          </a:p>
          <a:p>
            <a:pPr>
              <a:spcAft>
                <a:spcPts val="7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•  Preventing misuse while supporting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627" y="638114"/>
            <a:ext cx="1051560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chemeClr val="bg1"/>
                </a:solidFill>
                <a:latin typeface="Times New Roman"/>
                <a:cs typeface="Times New Roman"/>
              </a:rPr>
              <a:t>CONCLUSION</a:t>
            </a:r>
            <a:endParaRPr lang="en-US" sz="3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788" y="1580044"/>
            <a:ext cx="10515600" cy="6858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F8FF"/>
                </a:solidFill>
                <a:latin typeface="Times New Roman"/>
                <a:cs typeface="Times New Roman"/>
              </a:rPr>
              <a:t>Two techniques. Different goals. Stronger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982" y="2468390"/>
            <a:ext cx="4995770" cy="2249128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8796" y="3020273"/>
            <a:ext cx="4617720" cy="38404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8DCE1"/>
                </a:solidFill>
                <a:latin typeface="Times New Roman"/>
                <a:cs typeface="Times New Roman"/>
              </a:rPr>
              <a:t>CRYPTOGRAPHY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151" y="359378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Protects the meaning of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3090" y="2468389"/>
            <a:ext cx="4835997" cy="2249129"/>
          </a:xfrm>
          <a:prstGeom prst="roundRect">
            <a:avLst/>
          </a:prstGeom>
          <a:solidFill>
            <a:srgbClr val="122240"/>
          </a:solidFill>
          <a:ln>
            <a:solidFill>
              <a:srgbClr val="17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710" y="2823628"/>
            <a:ext cx="4617720" cy="38404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DBEB7"/>
                </a:solidFill>
                <a:latin typeface="Times New Roman"/>
                <a:cs typeface="Times New Roman"/>
              </a:rPr>
              <a:t>STEGANOGRAPHY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4646" y="3397143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F5F8FF"/>
                </a:solidFill>
                <a:latin typeface="Times New Roman"/>
                <a:cs typeface="Times New Roman"/>
              </a:rPr>
              <a:t>Conceals the existence of communication.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7891" y="3597525"/>
            <a:ext cx="484632" cy="0"/>
          </a:xfrm>
          <a:prstGeom prst="line">
            <a:avLst/>
          </a:prstGeom>
          <a:ln w="31750">
            <a:solidFill>
              <a:srgbClr val="FF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8142" y="5404793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B0C1DA"/>
                </a:solidFill>
                <a:latin typeface="Times New Roman"/>
                <a:cs typeface="Times New Roman"/>
              </a:rPr>
              <a:t>Combining encryption with hidden-data techniques can provide defense in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Axi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Ax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626E1DE4-363E-4A1A-A3CD-C79E498A714F}" vid="{3530EF86-100D-4C27-9316-4189EFA98A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300</cp:revision>
  <dcterms:created xsi:type="dcterms:W3CDTF">2013-01-27T09:14:16Z</dcterms:created>
  <dcterms:modified xsi:type="dcterms:W3CDTF">2026-10-14T14:23:27Z</dcterms:modified>
  <cp:category/>
</cp:coreProperties>
</file>